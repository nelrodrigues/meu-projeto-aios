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91440"/>
            <a:ext cx="45720" cy="496062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Transformação Comportamental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5303520" cy="0"/>
          </a:xfrm>
          <a:prstGeom prst="line">
            <a:avLst/>
          </a:prstGeom>
          <a:noFill/>
          <a:ln w="12700">
            <a:solidFill>
              <a:srgbClr val="C69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"Conhece-te. Compreende-te. Transforma-te."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Esperanza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Especialista em Inteligência Emocional e Desenvolvimento Humano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8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Versão 1.0  ·  Abril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20840" y="914400"/>
            <a:ext cx="2103120" cy="1097280"/>
          </a:xfrm>
          <a:prstGeom prst="rect">
            <a:avLst/>
          </a:prstGeom>
          <a:solidFill>
            <a:srgbClr val="2E7D9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9875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2084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experiência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2286000"/>
            <a:ext cx="2103120" cy="1097280"/>
          </a:xfrm>
          <a:prstGeom prst="rect">
            <a:avLst/>
          </a:prstGeom>
          <a:solidFill>
            <a:srgbClr val="2E7D9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23591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1.200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72084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profissionais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impactados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3657600"/>
            <a:ext cx="2103120" cy="1097280"/>
          </a:xfrm>
          <a:prstGeom prst="rect">
            <a:avLst/>
          </a:prstGeom>
          <a:solidFill>
            <a:srgbClr val="2E7D9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37307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720840" y="4251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servidos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explorar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0292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95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o Método TC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62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Premissa, origem e diferencial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20240"/>
            <a:ext cx="50292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396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Fundamentos Científicos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322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Neurociência, TCC, IE, Somática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50292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998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953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4 Fases do Método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282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Conhecer · Compreender · Transformar · Consolidar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40480"/>
            <a:ext cx="50292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5993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913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Públicos &amp; Formatos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242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Empresas, saúde, indivíduos — online e presencial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9601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960120"/>
            <a:ext cx="50292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1795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Linha de Produtos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1362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curso gravado à mentoria VIP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9202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920240"/>
            <a:ext cx="50292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1396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1993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Mercados &amp; Estratégia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322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Angola/PALOP + Espanha/Comunidade Hispânica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8803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880360"/>
            <a:ext cx="50292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0998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03520" y="2953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0" y="3282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Validação, lançamento e decisões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 — Transformação Comportamental  ·  Esperanza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O MÉTODO TC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280160"/>
          </a:xfrm>
          <a:prstGeom prst="rect">
            <a:avLst/>
          </a:prstGeom>
          <a:solidFill>
            <a:srgbClr val="2E7D9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"O comportamento muda quando a pessoa se conhece profundamente,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compreende as suas emoções e dispõe de ferramentas concretas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transformar os seus padrões de resposta."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331720"/>
            <a:ext cx="2743200" cy="384048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50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 estruturado de transformação — verificável, mensurável e duradouro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331720"/>
            <a:ext cx="2743200" cy="384048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350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Combina ciência do comportamento, práticas terapêuticas e ferramentas de coaching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33172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331720"/>
            <a:ext cx="2743200" cy="384048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350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NÃO 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é autoajuda superficial · Não é psicoterapia clínica · Não é só teoria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 — Transformação Comportamental  ·  Esperanza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Fundamentos Científicos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teórica que sustenta cada ferramenta do Método TC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01168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33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Neurociência do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Comportamento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límbico e amígdala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706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Neuroplasticidade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735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Respostas automáticas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96312" y="1097280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097280"/>
            <a:ext cx="2011680" cy="100584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9464" y="1133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87752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Psicologia Cognitivo-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Comportamental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33472" y="22677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Ciclo pensamento-emoção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33472" y="27706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Modificação de padrões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33472" y="32735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Repetição e reforço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72584" y="1097280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1097280"/>
            <a:ext cx="2011680" cy="100584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1133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64024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Inteligência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Emocional (Goleman)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9744" y="22677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dimensões IE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9744" y="27706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 é aprendível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9744" y="32735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Produtividade e bem-estar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48856" y="1097280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48856" y="1097280"/>
            <a:ext cx="2011680" cy="1005840"/>
          </a:xfrm>
          <a:prstGeom prst="rect">
            <a:avLst/>
          </a:prstGeom>
          <a:solidFill>
            <a:srgbClr val="1E5070"/>
          </a:solidFill>
          <a:ln w="12700">
            <a:solidFill>
              <a:srgbClr val="1E5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1133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40296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Somática &amp;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Nervoso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86016" y="22677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 armazena emoções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86016" y="27706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Respiração e movimento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86016" y="32735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Regulação fisiológica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 — Transformação Comportamental  ·  Esperanza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4 Fases do Método TC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011680" cy="3931920"/>
          </a:xfrm>
          <a:prstGeom prst="rect">
            <a:avLst/>
          </a:prstGeom>
          <a:solidFill>
            <a:srgbClr val="1A5276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011680" cy="50292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CONHECER-SE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40280" y="2743200"/>
            <a:ext cx="164592" cy="1828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2084832"/>
            <a:ext cx="17922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 emocional · Mapeamento de gatilhos · Crenças limitantes · Inventário de forças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4462272"/>
            <a:ext cx="2011680" cy="3383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Autoconhecimento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04872" y="868680"/>
            <a:ext cx="2011680" cy="3931920"/>
          </a:xfrm>
          <a:prstGeom prst="rect">
            <a:avLst/>
          </a:prstGeom>
          <a:solidFill>
            <a:srgbClr val="1A6B5E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04872" y="868680"/>
            <a:ext cx="2011680" cy="50292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96312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COMPREENDER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16552" y="2743200"/>
            <a:ext cx="164592" cy="1828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2084832"/>
            <a:ext cx="17922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Neurociência acessível · Ciclo T-E-C-R · Custo do stress · 5 dimensões da IE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04872" y="4462272"/>
            <a:ext cx="2011680" cy="3383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Consciência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81144" y="868680"/>
            <a:ext cx="2011680" cy="3931920"/>
          </a:xfrm>
          <a:prstGeom prst="rect">
            <a:avLst/>
          </a:prstGeom>
          <a:solidFill>
            <a:srgbClr val="6E2F1A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81144" y="868680"/>
            <a:ext cx="2011680" cy="50292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72584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92824" y="2743200"/>
            <a:ext cx="164592" cy="1828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2084832"/>
            <a:ext cx="17922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Coaching · Terapias emocionais · Respiração · Exercícios somáticos · Role-playing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81144" y="4462272"/>
            <a:ext cx="2011680" cy="3383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Transformação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57416" y="868680"/>
            <a:ext cx="2011680" cy="3931920"/>
          </a:xfrm>
          <a:prstGeom prst="rect">
            <a:avLst/>
          </a:prstGeom>
          <a:solidFill>
            <a:srgbClr val="4A235A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57416" y="868680"/>
            <a:ext cx="2011680" cy="50292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48856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CONSOLIDAR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67144" y="2084832"/>
            <a:ext cx="17922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Novos hábitos · Plano 90 dias · Prevenção de recaídas · Follow-up · Comunidade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57416" y="4462272"/>
            <a:ext cx="2011680" cy="33832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Autonomia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 — Transformação Comportamental  ·  Esperanza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09728"/>
            <a:ext cx="1463040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18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37360" y="1371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CONHECER-SE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Objectivo: Identificar os padrões emocionais e comportamentais actuais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114800" cy="411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CONTEÚDOS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 de inteligência emocional (avaliação inicial)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3055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Mapeamento de gatilhos emocionais pessoais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Identificação de crenças limitantes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Autoconhecimento: valores, motivações e medos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1363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Inventário de forças e áreas de desenvolvimento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05840"/>
            <a:ext cx="4114800" cy="4114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2412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572768"/>
            <a:ext cx="384048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Questionário de Diagnóstico TC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975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(instrumento proprietário)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624328"/>
            <a:ext cx="384048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Linha da Vida Emocional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026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(exercício de autoconhecimento)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675888"/>
            <a:ext cx="384048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Espelho Comportamental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(técnica de coaching)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Resultado: O participante sabe quem é emocionalmente e onde está no seu desenvolvimento.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Fases 2 e 3 — Compreender &amp; Transformar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457200"/>
          </a:xfrm>
          <a:prstGeom prst="rect">
            <a:avLst/>
          </a:prstGeom>
          <a:solidFill>
            <a:srgbClr val="1A6B5E"/>
          </a:solidFill>
          <a:ln w="12700">
            <a:solidFill>
              <a:srgbClr val="1A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412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COMPREENDER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0817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cérebro emocional (amígdala, cortisol)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Ciclo: pensamento → emoção → comportamento → resultado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custo do stress não gerido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5 dimensões da IE na prática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7588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Diário emocional e estudos de caso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4498848"/>
            <a:ext cx="4114800" cy="347472"/>
          </a:xfrm>
          <a:prstGeom prst="rect">
            <a:avLst/>
          </a:prstGeom>
          <a:solidFill>
            <a:srgbClr val="1A6B5E"/>
          </a:solidFill>
          <a:ln w="12700">
            <a:solidFill>
              <a:srgbClr val="1A6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5171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O participante compreende porque age como 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22960"/>
            <a:ext cx="4114800" cy="457200"/>
          </a:xfrm>
          <a:prstGeom prst="rect">
            <a:avLst/>
          </a:prstGeom>
          <a:solidFill>
            <a:srgbClr val="6E2F1A"/>
          </a:solidFill>
          <a:ln w="12700">
            <a:solidFill>
              <a:srgbClr val="6E2F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8412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  ·  TRANSFORMAR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426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Sessões de Coaching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682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Metas, valores, plano de acção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Terapias Emocionais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2494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Libertação de bloqueios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 de Respiração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8163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Regulação do sistema nervoso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127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Exercícios Somáticos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3832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Descarga de tensão corporal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3694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Role-playing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950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Prática de novos comportamentos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4498848"/>
            <a:ext cx="4114800" cy="347472"/>
          </a:xfrm>
          <a:prstGeom prst="rect">
            <a:avLst/>
          </a:prstGeom>
          <a:solidFill>
            <a:srgbClr val="6E2F1A"/>
          </a:solidFill>
          <a:ln w="12700">
            <a:solidFill>
              <a:srgbClr val="6E2F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5171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Respostas automáticas tornam-se respostas conscientes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 — Transformação Comportamental  ·  Esperanza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 &amp; Competências Desenvolvidas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4572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412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  ·  CONSOLIDAR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Novos hábitos emocionais e comportamentais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 de acção individual 30/60/90 dias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Prevenção de recaídas comportamentais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73405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 quinzenal/mensal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1729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Comunidade de prática entre alunos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13441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22960"/>
            <a:ext cx="1344168" cy="4572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84124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PESSOAIS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82312" y="1408176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Autoconsciência emocional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82312" y="1920240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Autorregulação sob stress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82312" y="2432304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Resiliência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82312" y="2944368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Autoconfiança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822960"/>
            <a:ext cx="13441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44768" y="822960"/>
            <a:ext cx="1344168" cy="45720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84124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PROFISSIONAIS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1408176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Comunicação assertiva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1920240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Gestão de conflitos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432304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Liderança consciente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944368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Decisão sob pressão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0376" y="822960"/>
            <a:ext cx="13441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80376" y="822960"/>
            <a:ext cx="1344168" cy="45720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6952" y="84124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RELACIONAIS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653528" y="1408176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Empatia e escuta activa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53528" y="1920240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Limites saudáveis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53528" y="2432304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Relações funcionais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53528" y="2944368"/>
            <a:ext cx="1197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Colaboração efectiva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931920"/>
            <a:ext cx="8503920" cy="914400"/>
          </a:xfrm>
          <a:prstGeom prst="rect">
            <a:avLst/>
          </a:prstGeom>
          <a:solidFill>
            <a:srgbClr val="1A3C5E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0050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participante mantém e aprofunda as transformações de forma autónoma e sustentável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Públicos-Alvo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Método TC serve três segmentos complementares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11155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Saúde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463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DD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Hospitais &amp; Clínicas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Equipas de alta exigência emocional (urgências, oncologia, cuidados intensivos). Líderes de saúde.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24688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93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D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Ref. validada: Hospital Girasol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2E7D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1.200 colaboradores · 3 anos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51560"/>
            <a:ext cx="2743200" cy="8229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977640" y="11155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Empresas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77640" y="1463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DD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Organizações em Geral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0116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Equipas com desafios de produtividade, retenção e bem-estar. RH e departamentos de formação.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3383280"/>
            <a:ext cx="24688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493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6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Sectores: tecnologia, finanças,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1A6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educação, serviços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51560"/>
            <a:ext cx="27432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03720" y="11155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Indivíduos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1463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DD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Crescimento Pessoal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0116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Profissionais em transição de carreira. Empreendedores. Quem quer autoconhecimento profundo.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3383280"/>
            <a:ext cx="24688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493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2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Mentorias personalizadas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5C2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acompanhamento 1:1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 — Transformação Comportamental  ·  Esperanza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Linha de Produtos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isca digital à mentoria premium — 4 níveis de acesso e valor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280160" cy="86868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881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563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91640" y="1124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Isca Digital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1527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E-book + Mini-vídeo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77640" y="11430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5 Sinais de que as Tuas Emoções Estão a Controlar a Tua Vida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1161288"/>
            <a:ext cx="1280160" cy="65836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2527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Grátis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039112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039112"/>
            <a:ext cx="1280160" cy="868680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75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0040" y="2551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91640" y="21122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 TC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 gravado + Lives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21305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semanas · 4 módulos · sessões ao vivo quinzenais · comunidade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2148840"/>
            <a:ext cx="1280160" cy="658368"/>
          </a:xfrm>
          <a:prstGeom prst="rect">
            <a:avLst/>
          </a:prstGeom>
          <a:solidFill>
            <a:srgbClr val="2E7D9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2402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€97–€297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026664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26664"/>
            <a:ext cx="1280160" cy="8686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63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0040" y="3538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CORPORATIVO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91640" y="30998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Empresas B2B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91640" y="3502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In-company · Zoom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77640" y="311810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 único · programa mensal · trimestral · retainer anual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3136392"/>
            <a:ext cx="1280160" cy="65836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322783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€800–€8.000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0040" y="4014216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014216"/>
            <a:ext cx="1280160" cy="868680"/>
          </a:xfrm>
          <a:prstGeom prst="rect">
            <a:avLst/>
          </a:prstGeom>
          <a:solidFill>
            <a:srgbClr val="6E2F1A"/>
          </a:solidFill>
          <a:ln w="12700">
            <a:solidFill>
              <a:srgbClr val="6E2F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0507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2004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91640" y="4087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Mentoria VIP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91640" y="4489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Sessões 1:1 · Zoom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77640" y="410565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mês (4 sessões) ou 3 meses (12 sessões) de acompanhamento intensivo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06640" y="4123944"/>
            <a:ext cx="1280160" cy="658368"/>
          </a:xfrm>
          <a:prstGeom prst="rect">
            <a:avLst/>
          </a:prstGeom>
          <a:solidFill>
            <a:srgbClr val="6E2F1A"/>
          </a:solidFill>
          <a:ln w="12700">
            <a:solidFill>
              <a:srgbClr val="6E2F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421538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€400–€1.500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Espanha: Programas corporativos elegíveis para financiamento via FUNDAE — as empresas recuperam parte ou totalidade do investimento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Mercados &amp; Estratégia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1A3050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931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🇦🇴  ANGOLA + PALOP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+ Instagram (Português)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39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Abordagem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Testemunhos, vídeos educativos, autoridade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98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Pagamento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081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 BNA + Cartão Camba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56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Alcance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739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Angola · Moçambique · Cabo Verde · Brasil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4114800" cy="3977640"/>
          </a:xfrm>
          <a:prstGeom prst="rect">
            <a:avLst/>
          </a:prstGeom>
          <a:solidFill>
            <a:srgbClr val="1A3050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22960"/>
            <a:ext cx="4114800" cy="5029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841248"/>
            <a:ext cx="3931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🇪🇸  ESPANHA + HISPÂNICA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764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Instagram + LinkedIn (Espanhol)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139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Abordagem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Conteúdo profissional, resultados empresariais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798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Pagamento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081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 europeia + Stripe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456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739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Elegível para financiamento FUNDAE 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0D1F33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280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FUNIL:  Consciência (redes)  →  Interesse (isca digital)  →  Decisão (webinar grátis)  →  Acção (compra)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 — Transformação Comportamental  ·  Esperanza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o Método TC?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diferenciais que o distinguem de qualquer outro programa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75488" cy="10972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6968" y="11704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Experiência real comprovada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5361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Testado em Hospital Girasol com 1.200 colaboradores ao longo de 3 anos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78992"/>
            <a:ext cx="475488" cy="10972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76088" y="11704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Integração única de ferramentas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15361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Coaching + Terapia + Respiração + Exercício — numa sequência estruturada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4086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40864"/>
            <a:ext cx="475488" cy="10972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6968" y="24323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Abordagem bilíngue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279806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Português e espanhol — dois grandes mercados ibero-americanos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4086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40864"/>
            <a:ext cx="475488" cy="10972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76088" y="24323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África para o mundo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76088" y="279806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Raízes angolanas · Alcance PALOP + América Latina + Espanha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02736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02736"/>
            <a:ext cx="475488" cy="10972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86968" y="36941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Foco em resultados mensuráveis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6968" y="405993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ferramenta serve um resultado comportamental específico e verificável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02736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02736"/>
            <a:ext cx="475488" cy="10972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5736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276088" y="36941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Retorno financeiro para o cliente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76088" y="405993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Bem-estar emocional = mais produtividade = mais lucro — equação comprovada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 — Transformação Comportamental  ·  Esperanza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 de lançamento em 4 fases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1993392" cy="3749040"/>
          </a:xfrm>
          <a:prstGeom prst="rect">
            <a:avLst/>
          </a:prstGeom>
          <a:solidFill>
            <a:srgbClr val="1A5276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1993392" cy="47548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3350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1–2 meses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" y="166420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2212848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 Método TC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77977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Gravar Módulos 1+2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334670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plataforma &amp; landing page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" y="391363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Configurar CRM + 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04872" y="1078992"/>
            <a:ext cx="1993392" cy="3749040"/>
          </a:xfrm>
          <a:prstGeom prst="rect">
            <a:avLst/>
          </a:prstGeom>
          <a:solidFill>
            <a:srgbClr val="1A6B4A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04872" y="1078992"/>
            <a:ext cx="1993392" cy="47548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109728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50592" y="13350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Semanas 1–2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78024" y="166420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LANÇAMENTO BETA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2212848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 de espera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277977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Webinar demo gratuito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334670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primeiros alunos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391363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Recolher testemunhos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81144" y="1078992"/>
            <a:ext cx="1993392" cy="3749040"/>
          </a:xfrm>
          <a:prstGeom prst="rect">
            <a:avLst/>
          </a:prstGeom>
          <a:solidFill>
            <a:srgbClr val="6E2F1A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81144" y="1078992"/>
            <a:ext cx="1993392" cy="47548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109728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26864" y="13350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Semanas 3–4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54296" y="166420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LANÇAMENTO PRINCIPAL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90872" y="2212848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Campanha 7 dias antes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90872" y="277977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Abertura de inscrições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90872" y="334670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Sessão Q&amp;A ao vivo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90872" y="391363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Encerramento com urgência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57416" y="1078992"/>
            <a:ext cx="1993392" cy="3749040"/>
          </a:xfrm>
          <a:prstGeom prst="rect">
            <a:avLst/>
          </a:prstGeom>
          <a:solidFill>
            <a:srgbClr val="4A235A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57416" y="1078992"/>
            <a:ext cx="1993392" cy="475488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109728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03136" y="13350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Após lançamento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30568" y="166420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MODO PERPÉTUO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67144" y="2212848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Evergreen na plataforma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67144" y="277977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Funil automático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67144" y="334670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Lançamentos sazonais B2B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67144" y="391363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IA activo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 — Transformação Comportamental  ·  Esperanza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Decisões a Tomar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 de avançar para a produção — validação da Esperanza necessária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38912" cy="8046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307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2104" y="1335024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1152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Nome final do produto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53619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"Método TC" confirmar ou propor alternativa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11680"/>
            <a:ext cx="438912" cy="8046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2240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2104" y="2267712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2084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 de lançamento primeiro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" y="2468880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Português (Angola) ou Espanhol (Madrid)?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4436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44368"/>
            <a:ext cx="438912" cy="8046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31729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2104" y="3200400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3017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Preços finais por mercado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" y="3401568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Confirmar tabela de preços apresentada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87705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877056"/>
            <a:ext cx="438912" cy="8046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" y="41056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" y="41330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" y="3950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 de membros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" y="4334256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Hotmart / Teachable / Kajabi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07899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078992"/>
            <a:ext cx="438912" cy="8046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1307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221224" y="1335024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0408" y="1152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Domínio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9512" y="153619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metodotc.com / esperanza.com / outro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0116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011680"/>
            <a:ext cx="438912" cy="8046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2240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221224" y="2267712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0408" y="2084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de início das gravações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39512" y="2468880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está pronta para gravar o curso?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294436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944368"/>
            <a:ext cx="438912" cy="8046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45736" y="31729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221224" y="3200400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50408" y="3017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Terapias específicas (Fase 3)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39512" y="3401568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Nomear para comunicação do produto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9160" y="387705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877056"/>
            <a:ext cx="438912" cy="8046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45736" y="41056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221224" y="413308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9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50408" y="3950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 de respiração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39512" y="4334256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Nomear para diferenciação do método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 — Transformação Comportamental  ·  Esperanza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6973F"/>
          </a:solidFill>
          <a:ln w="12700">
            <a:solidFill>
              <a:srgbClr val="C697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12700">
            <a:solidFill>
              <a:srgbClr val="C69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 TC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Transformação Comportamental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8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"Conhece-te. Compreende-te. Transforma-te."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A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Esperanza  ·  Especialista em Inteligência Emocional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4023360"/>
            <a:ext cx="1371600" cy="804672"/>
          </a:xfrm>
          <a:prstGeom prst="rect">
            <a:avLst/>
          </a:prstGeom>
          <a:solidFill>
            <a:srgbClr val="2E7D9F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40416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03120" y="44439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4023360"/>
            <a:ext cx="1371600" cy="804672"/>
          </a:xfrm>
          <a:prstGeom prst="rect">
            <a:avLst/>
          </a:prstGeom>
          <a:solidFill>
            <a:srgbClr val="2E7D9F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40416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40480" y="44439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4023360"/>
            <a:ext cx="1371600" cy="804672"/>
          </a:xfrm>
          <a:prstGeom prst="rect">
            <a:avLst/>
          </a:prstGeom>
          <a:solidFill>
            <a:srgbClr val="2E7D9F"/>
          </a:solidFill>
          <a:ln w="12700">
            <a:solidFill>
              <a:srgbClr val="C697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40416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97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77840" y="44439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experiência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 TC — Transformação Comportamental</dc:title>
  <dc:subject>PptxGenJS Presentation</dc:subject>
  <dc:creator>Esperanza</dc:creator>
  <cp:lastModifiedBy>Esperanza</cp:lastModifiedBy>
  <cp:revision>1</cp:revision>
  <dcterms:created xsi:type="dcterms:W3CDTF">2026-04-21T12:50:40Z</dcterms:created>
  <dcterms:modified xsi:type="dcterms:W3CDTF">2026-04-21T12:50:40Z</dcterms:modified>
</cp:coreProperties>
</file>